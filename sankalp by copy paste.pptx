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Inter" panose="020B0604020202020204" charset="0"/>
      <p:regular r:id="rId14"/>
      <p:bold r:id="rId15"/>
      <p:italic r:id="rId16"/>
      <p:boldItalic r:id="rId17"/>
    </p:embeddedFont>
    <p:embeddedFont>
      <p:font typeface="Inter Medium"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2E49B5C-65DF-4695-84C5-6319CAEEA180}">
  <a:tblStyle styleId="{32E49B5C-65DF-4695-84C5-6319CAEEA18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86" y="-174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a99df10e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a99df10e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aa99df10e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aa99df10e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aa99df10e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aa99df10e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aa99df10e2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aa99df10e2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aa99df10e2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aa99df10e2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aa99df10e2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aa99df10e2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aa99df10e2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aa99df10e2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aa99df10e2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aa99df10e2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aa99df10e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aa99df10e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aa99df10e2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aa99df10e2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798750" y="744575"/>
            <a:ext cx="5982000" cy="14160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a:solidFill>
                  <a:srgbClr val="CC0000"/>
                </a:solidFill>
                <a:latin typeface="Inter"/>
                <a:ea typeface="Inter"/>
                <a:cs typeface="Inter"/>
                <a:sym typeface="Inter"/>
              </a:rPr>
              <a:t>Pitch Deck Template</a:t>
            </a:r>
            <a:endParaRPr>
              <a:solidFill>
                <a:srgbClr val="CC0000"/>
              </a:solidFill>
              <a:latin typeface="Inter"/>
              <a:ea typeface="Inter"/>
              <a:cs typeface="Inter"/>
              <a:sym typeface="Inter"/>
            </a:endParaRPr>
          </a:p>
        </p:txBody>
      </p:sp>
      <p:sp>
        <p:nvSpPr>
          <p:cNvPr id="55" name="Google Shape;55;p13"/>
          <p:cNvSpPr txBox="1">
            <a:spLocks noGrp="1"/>
          </p:cNvSpPr>
          <p:nvPr>
            <p:ph type="subTitle" idx="1"/>
          </p:nvPr>
        </p:nvSpPr>
        <p:spPr>
          <a:xfrm>
            <a:off x="798750" y="2355650"/>
            <a:ext cx="5899800" cy="1494600"/>
          </a:xfrm>
          <a:prstGeom prst="rect">
            <a:avLst/>
          </a:prstGeom>
        </p:spPr>
        <p:txBody>
          <a:bodyPr spcFirstLastPara="1" wrap="square" lIns="91425" tIns="91425" rIns="91425" bIns="91425" anchor="t" anchorCtr="0">
            <a:normAutofit/>
          </a:bodyPr>
          <a:lstStyle/>
          <a:p>
            <a:pPr marL="457200" lvl="0" indent="-317500" algn="l" rtl="0">
              <a:spcBef>
                <a:spcPts val="1000"/>
              </a:spcBef>
              <a:spcAft>
                <a:spcPts val="0"/>
              </a:spcAft>
              <a:buClr>
                <a:srgbClr val="990000"/>
              </a:buClr>
              <a:buSzPts val="1400"/>
              <a:buFont typeface="Inter Medium"/>
              <a:buChar char="●"/>
            </a:pPr>
            <a:r>
              <a:rPr lang="en-GB" sz="1400">
                <a:solidFill>
                  <a:srgbClr val="990000"/>
                </a:solidFill>
                <a:latin typeface="Inter Medium"/>
                <a:ea typeface="Inter Medium"/>
                <a:cs typeface="Inter Medium"/>
                <a:sym typeface="Inter Medium"/>
              </a:rPr>
              <a:t>Make a copy of this deck. </a:t>
            </a:r>
            <a:endParaRPr sz="1400">
              <a:solidFill>
                <a:srgbClr val="990000"/>
              </a:solidFill>
              <a:latin typeface="Inter Medium"/>
              <a:ea typeface="Inter Medium"/>
              <a:cs typeface="Inter Medium"/>
              <a:sym typeface="Inter Medium"/>
            </a:endParaRPr>
          </a:p>
          <a:p>
            <a:pPr marL="457200" lvl="0" indent="-317500" algn="l" rtl="0">
              <a:spcBef>
                <a:spcPts val="1000"/>
              </a:spcBef>
              <a:spcAft>
                <a:spcPts val="0"/>
              </a:spcAft>
              <a:buClr>
                <a:srgbClr val="990000"/>
              </a:buClr>
              <a:buSzPts val="1400"/>
              <a:buFont typeface="Inter Medium"/>
              <a:buChar char="●"/>
            </a:pPr>
            <a:r>
              <a:rPr lang="en-GB" sz="1400">
                <a:solidFill>
                  <a:srgbClr val="990000"/>
                </a:solidFill>
                <a:latin typeface="Inter Medium"/>
                <a:ea typeface="Inter Medium"/>
                <a:cs typeface="Inter Medium"/>
                <a:sym typeface="Inter Medium"/>
              </a:rPr>
              <a:t>Do NOT add or remove any slides</a:t>
            </a:r>
            <a:endParaRPr sz="1400">
              <a:solidFill>
                <a:srgbClr val="990000"/>
              </a:solidFill>
              <a:latin typeface="Inter Medium"/>
              <a:ea typeface="Inter Medium"/>
              <a:cs typeface="Inter Medium"/>
              <a:sym typeface="Inter Medium"/>
            </a:endParaRPr>
          </a:p>
          <a:p>
            <a:pPr marL="457200" lvl="0" indent="-317500" algn="l" rtl="0">
              <a:spcBef>
                <a:spcPts val="1000"/>
              </a:spcBef>
              <a:spcAft>
                <a:spcPts val="0"/>
              </a:spcAft>
              <a:buClr>
                <a:srgbClr val="990000"/>
              </a:buClr>
              <a:buSzPts val="1400"/>
              <a:buFont typeface="Inter Medium"/>
              <a:buChar char="●"/>
            </a:pPr>
            <a:r>
              <a:rPr lang="en-GB" sz="1400">
                <a:solidFill>
                  <a:srgbClr val="990000"/>
                </a:solidFill>
                <a:latin typeface="Inter Medium"/>
                <a:ea typeface="Inter Medium"/>
                <a:cs typeface="Inter Medium"/>
                <a:sym typeface="Inter Medium"/>
              </a:rPr>
              <a:t>Don’t forget to click on ‘Share’ and set ‘General Access’ to </a:t>
            </a:r>
            <a:r>
              <a:rPr lang="en-GB" sz="1400" b="1">
                <a:solidFill>
                  <a:srgbClr val="990000"/>
                </a:solidFill>
                <a:latin typeface="Inter"/>
                <a:ea typeface="Inter"/>
                <a:cs typeface="Inter"/>
                <a:sym typeface="Inter"/>
              </a:rPr>
              <a:t>anyone with the link can view</a:t>
            </a:r>
            <a:endParaRPr sz="1400" b="1">
              <a:solidFill>
                <a:srgbClr val="990000"/>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title="slides.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61" name="Google Shape;61;p14"/>
          <p:cNvSpPr txBox="1">
            <a:spLocks noGrp="1"/>
          </p:cNvSpPr>
          <p:nvPr>
            <p:ph type="ctrTitle"/>
          </p:nvPr>
        </p:nvSpPr>
        <p:spPr>
          <a:xfrm>
            <a:off x="311700" y="744575"/>
            <a:ext cx="8520600" cy="1827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b="1" dirty="0">
                <a:solidFill>
                  <a:schemeClr val="lt1"/>
                </a:solidFill>
                <a:latin typeface="Inter"/>
                <a:ea typeface="Inter"/>
                <a:cs typeface="Inter"/>
                <a:sym typeface="Inter"/>
              </a:rPr>
              <a:t>SANKALP:</a:t>
            </a:r>
            <a:br>
              <a:rPr lang="en-GB" dirty="0">
                <a:solidFill>
                  <a:schemeClr val="lt1"/>
                </a:solidFill>
                <a:latin typeface="Inter"/>
                <a:ea typeface="Inter"/>
                <a:cs typeface="Inter"/>
                <a:sym typeface="Inter"/>
              </a:rPr>
            </a:br>
            <a:r>
              <a:rPr lang="en-GB" sz="2000" i="1" dirty="0">
                <a:solidFill>
                  <a:schemeClr val="lt1"/>
                </a:solidFill>
                <a:latin typeface="Inter"/>
                <a:ea typeface="Inter"/>
                <a:cs typeface="Inter"/>
                <a:sym typeface="Inter"/>
              </a:rPr>
              <a:t>Digital Truth At Source</a:t>
            </a:r>
            <a:endParaRPr sz="2000" i="1" dirty="0">
              <a:solidFill>
                <a:schemeClr val="lt1"/>
              </a:solidFill>
              <a:latin typeface="Inter"/>
              <a:ea typeface="Inter"/>
              <a:cs typeface="Inter"/>
              <a:sym typeface="Inter"/>
            </a:endParaRPr>
          </a:p>
        </p:txBody>
      </p:sp>
      <p:sp>
        <p:nvSpPr>
          <p:cNvPr id="62" name="Google Shape;62;p14"/>
          <p:cNvSpPr txBox="1">
            <a:spLocks noGrp="1"/>
          </p:cNvSpPr>
          <p:nvPr>
            <p:ph type="subTitle" idx="1"/>
          </p:nvPr>
        </p:nvSpPr>
        <p:spPr>
          <a:xfrm>
            <a:off x="311700" y="2677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lang="en-GB" sz="2000" dirty="0">
              <a:solidFill>
                <a:schemeClr val="lt1"/>
              </a:solidFill>
              <a:latin typeface="Inter"/>
              <a:ea typeface="Inter"/>
              <a:cs typeface="Inter"/>
              <a:sym typeface="Inter"/>
            </a:endParaRPr>
          </a:p>
          <a:p>
            <a:pPr marL="0" lvl="0" indent="0" algn="ctr" rtl="0">
              <a:spcBef>
                <a:spcPts val="0"/>
              </a:spcBef>
              <a:spcAft>
                <a:spcPts val="0"/>
              </a:spcAft>
              <a:buNone/>
            </a:pPr>
            <a:r>
              <a:rPr lang="en-GB" sz="2000" dirty="0">
                <a:solidFill>
                  <a:schemeClr val="lt1"/>
                </a:solidFill>
                <a:latin typeface="Inter"/>
                <a:ea typeface="Inter"/>
                <a:cs typeface="Inter"/>
                <a:sym typeface="Inter"/>
              </a:rPr>
              <a:t>By: Copy Paste</a:t>
            </a:r>
            <a:endParaRPr sz="2000" dirty="0">
              <a:solidFill>
                <a:schemeClr val="lt1"/>
              </a:solidFill>
              <a:latin typeface="Inter"/>
              <a:ea typeface="Inter"/>
              <a:cs typeface="Inter"/>
              <a:sym typeface="Inter"/>
            </a:endParaRPr>
          </a:p>
        </p:txBody>
      </p:sp>
      <p:pic>
        <p:nvPicPr>
          <p:cNvPr id="63" name="Google Shape;63;p14"/>
          <p:cNvPicPr preferRelativeResize="0"/>
          <p:nvPr/>
        </p:nvPicPr>
        <p:blipFill>
          <a:blip r:embed="rId4">
            <a:alphaModFix/>
          </a:blip>
          <a:stretch>
            <a:fillRect/>
          </a:stretch>
        </p:blipFill>
        <p:spPr>
          <a:xfrm>
            <a:off x="365250" y="278225"/>
            <a:ext cx="2578377" cy="219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slides.png"/>
          <p:cNvPicPr preferRelativeResize="0"/>
          <p:nvPr/>
        </p:nvPicPr>
        <p:blipFill>
          <a:blip r:embed="rId3">
            <a:alphaModFix/>
          </a:blip>
          <a:stretch>
            <a:fillRect/>
          </a:stretch>
        </p:blipFill>
        <p:spPr>
          <a:xfrm>
            <a:off x="0" y="0"/>
            <a:ext cx="9144000" cy="5143500"/>
          </a:xfrm>
          <a:prstGeom prst="rect">
            <a:avLst/>
          </a:prstGeom>
          <a:noFill/>
          <a:ln>
            <a:noFill/>
          </a:ln>
        </p:spPr>
      </p:pic>
      <p:graphicFrame>
        <p:nvGraphicFramePr>
          <p:cNvPr id="69" name="Google Shape;69;p15"/>
          <p:cNvGraphicFramePr/>
          <p:nvPr>
            <p:extLst>
              <p:ext uri="{D42A27DB-BD31-4B8C-83A1-F6EECF244321}">
                <p14:modId xmlns:p14="http://schemas.microsoft.com/office/powerpoint/2010/main" val="3292971982"/>
              </p:ext>
            </p:extLst>
          </p:nvPr>
        </p:nvGraphicFramePr>
        <p:xfrm>
          <a:off x="952500" y="4302575"/>
          <a:ext cx="5798820" cy="487650"/>
        </p:xfrm>
        <a:graphic>
          <a:graphicData uri="http://schemas.openxmlformats.org/drawingml/2006/table">
            <a:tbl>
              <a:tblPr>
                <a:noFill/>
                <a:tableStyleId>{32E49B5C-65DF-4695-84C5-6319CAEEA180}</a:tableStyleId>
              </a:tblPr>
              <a:tblGrid>
                <a:gridCol w="2887980">
                  <a:extLst>
                    <a:ext uri="{9D8B030D-6E8A-4147-A177-3AD203B41FA5}">
                      <a16:colId xmlns:a16="http://schemas.microsoft.com/office/drawing/2014/main" val="20000"/>
                    </a:ext>
                  </a:extLst>
                </a:gridCol>
                <a:gridCol w="2910840">
                  <a:extLst>
                    <a:ext uri="{9D8B030D-6E8A-4147-A177-3AD203B41FA5}">
                      <a16:colId xmlns:a16="http://schemas.microsoft.com/office/drawing/2014/main" val="20001"/>
                    </a:ext>
                  </a:extLst>
                </a:gridCol>
              </a:tblGrid>
              <a:tr h="328650">
                <a:tc>
                  <a:txBody>
                    <a:bodyPr/>
                    <a:lstStyle/>
                    <a:p>
                      <a:pPr marL="0" lvl="0" indent="0" algn="ctr" rtl="0">
                        <a:spcBef>
                          <a:spcPts val="0"/>
                        </a:spcBef>
                        <a:spcAft>
                          <a:spcPts val="0"/>
                        </a:spcAft>
                        <a:buNone/>
                      </a:pPr>
                      <a:r>
                        <a:rPr lang="en-GB" sz="1000" dirty="0">
                          <a:solidFill>
                            <a:schemeClr val="lt1"/>
                          </a:solidFill>
                          <a:latin typeface="Inter"/>
                          <a:ea typeface="Inter"/>
                          <a:cs typeface="Inter"/>
                          <a:sym typeface="Inter"/>
                        </a:rPr>
                        <a:t>Tanuja </a:t>
                      </a:r>
                      <a:r>
                        <a:rPr lang="en-GB" sz="1000" dirty="0" err="1">
                          <a:solidFill>
                            <a:schemeClr val="lt1"/>
                          </a:solidFill>
                          <a:latin typeface="Inter"/>
                          <a:ea typeface="Inter"/>
                          <a:cs typeface="Inter"/>
                          <a:sym typeface="Inter"/>
                        </a:rPr>
                        <a:t>Ashruba</a:t>
                      </a:r>
                      <a:r>
                        <a:rPr lang="en-GB" sz="1000" dirty="0">
                          <a:solidFill>
                            <a:schemeClr val="lt1"/>
                          </a:solidFill>
                          <a:latin typeface="Inter"/>
                          <a:ea typeface="Inter"/>
                          <a:cs typeface="Inter"/>
                          <a:sym typeface="Inter"/>
                        </a:rPr>
                        <a:t> Ingle</a:t>
                      </a:r>
                    </a:p>
                    <a:p>
                      <a:pPr marL="0" lvl="0" indent="0" algn="ctr" rtl="0">
                        <a:spcBef>
                          <a:spcPts val="0"/>
                        </a:spcBef>
                        <a:spcAft>
                          <a:spcPts val="0"/>
                        </a:spcAft>
                        <a:buNone/>
                      </a:pPr>
                      <a:r>
                        <a:rPr lang="en-GB" sz="1000" dirty="0">
                          <a:solidFill>
                            <a:schemeClr val="lt1"/>
                          </a:solidFill>
                          <a:latin typeface="Inter"/>
                          <a:ea typeface="Inter"/>
                          <a:cs typeface="Inter"/>
                          <a:sym typeface="Inter"/>
                        </a:rPr>
                        <a:t>(9421570522)</a:t>
                      </a:r>
                    </a:p>
                  </a:txBody>
                  <a:tcPr marL="91425" marR="91425" marT="91425" marB="91425"/>
                </a:tc>
                <a:tc>
                  <a:txBody>
                    <a:bodyPr/>
                    <a:lstStyle/>
                    <a:p>
                      <a:pPr marL="0" lvl="0" indent="0" algn="ctr" rtl="0">
                        <a:spcBef>
                          <a:spcPts val="0"/>
                        </a:spcBef>
                        <a:spcAft>
                          <a:spcPts val="0"/>
                        </a:spcAft>
                        <a:buNone/>
                      </a:pPr>
                      <a:r>
                        <a:rPr lang="en-GB" sz="1000" dirty="0">
                          <a:solidFill>
                            <a:schemeClr val="lt1"/>
                          </a:solidFill>
                          <a:latin typeface="Inter"/>
                          <a:ea typeface="Inter"/>
                          <a:cs typeface="Inter"/>
                          <a:sym typeface="Inter"/>
                        </a:rPr>
                        <a:t>Abhishek </a:t>
                      </a:r>
                      <a:r>
                        <a:rPr lang="en-GB" sz="1000" dirty="0" err="1">
                          <a:solidFill>
                            <a:schemeClr val="lt1"/>
                          </a:solidFill>
                          <a:latin typeface="Inter"/>
                          <a:ea typeface="Inter"/>
                          <a:cs typeface="Inter"/>
                          <a:sym typeface="Inter"/>
                        </a:rPr>
                        <a:t>Ashruba</a:t>
                      </a:r>
                      <a:r>
                        <a:rPr lang="en-GB" sz="1000" dirty="0">
                          <a:solidFill>
                            <a:schemeClr val="lt1"/>
                          </a:solidFill>
                          <a:latin typeface="Inter"/>
                          <a:ea typeface="Inter"/>
                          <a:cs typeface="Inter"/>
                          <a:sym typeface="Inter"/>
                        </a:rPr>
                        <a:t> Ingle</a:t>
                      </a:r>
                    </a:p>
                    <a:p>
                      <a:pPr marL="0" lvl="0" indent="0" algn="ctr" rtl="0">
                        <a:spcBef>
                          <a:spcPts val="0"/>
                        </a:spcBef>
                        <a:spcAft>
                          <a:spcPts val="0"/>
                        </a:spcAft>
                        <a:buNone/>
                      </a:pPr>
                      <a:r>
                        <a:rPr lang="en-GB" sz="1000" dirty="0">
                          <a:solidFill>
                            <a:schemeClr val="lt1"/>
                          </a:solidFill>
                          <a:latin typeface="Inter"/>
                          <a:ea typeface="Inter"/>
                          <a:cs typeface="Inter"/>
                          <a:sym typeface="Inter"/>
                        </a:rPr>
                        <a:t>(9970398056)</a:t>
                      </a:r>
                      <a:endParaRPr sz="1000" dirty="0">
                        <a:solidFill>
                          <a:schemeClr val="lt1"/>
                        </a:solidFill>
                        <a:latin typeface="Inter"/>
                        <a:ea typeface="Inter"/>
                        <a:cs typeface="Inter"/>
                        <a:sym typeface="Inter"/>
                      </a:endParaRPr>
                    </a:p>
                  </a:txBody>
                  <a:tcPr marL="91425" marR="91425" marT="91425" marB="91425"/>
                </a:tc>
                <a:extLst>
                  <a:ext uri="{0D108BD9-81ED-4DB2-BD59-A6C34878D82A}">
                    <a16:rowId xmlns:a16="http://schemas.microsoft.com/office/drawing/2014/main" val="10000"/>
                  </a:ext>
                </a:extLst>
              </a:tr>
            </a:tbl>
          </a:graphicData>
        </a:graphic>
      </p:graphicFrame>
      <p:pic>
        <p:nvPicPr>
          <p:cNvPr id="70" name="Google Shape;70;p15"/>
          <p:cNvPicPr preferRelativeResize="0"/>
          <p:nvPr/>
        </p:nvPicPr>
        <p:blipFill>
          <a:blip r:embed="rId4">
            <a:alphaModFix/>
          </a:blip>
          <a:stretch>
            <a:fillRect/>
          </a:stretch>
        </p:blipFill>
        <p:spPr>
          <a:xfrm>
            <a:off x="365250" y="278225"/>
            <a:ext cx="2578377" cy="219000"/>
          </a:xfrm>
          <a:prstGeom prst="rect">
            <a:avLst/>
          </a:prstGeom>
          <a:noFill/>
          <a:ln>
            <a:noFill/>
          </a:ln>
        </p:spPr>
      </p:pic>
      <p:sp>
        <p:nvSpPr>
          <p:cNvPr id="72" name="Google Shape;72;p15"/>
          <p:cNvSpPr txBox="1"/>
          <p:nvPr/>
        </p:nvSpPr>
        <p:spPr>
          <a:xfrm>
            <a:off x="2418900" y="1353150"/>
            <a:ext cx="43062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800" b="1">
                <a:latin typeface="Inter"/>
                <a:ea typeface="Inter"/>
                <a:cs typeface="Inter"/>
                <a:sym typeface="Inter"/>
              </a:rPr>
              <a:t>A picture of your team!</a:t>
            </a:r>
            <a:endParaRPr sz="1800" b="1">
              <a:latin typeface="Inter"/>
              <a:ea typeface="Inter"/>
              <a:cs typeface="Inter"/>
              <a:sym typeface="Inter"/>
            </a:endParaRPr>
          </a:p>
        </p:txBody>
      </p:sp>
      <p:pic>
        <p:nvPicPr>
          <p:cNvPr id="3" name="Picture 2">
            <a:extLst>
              <a:ext uri="{FF2B5EF4-FFF2-40B4-BE49-F238E27FC236}">
                <a16:creationId xmlns:a16="http://schemas.microsoft.com/office/drawing/2014/main" id="{53574745-19FC-4E41-22E2-F279F40EC0DD}"/>
              </a:ext>
            </a:extLst>
          </p:cNvPr>
          <p:cNvPicPr>
            <a:picLocks noChangeAspect="1"/>
          </p:cNvPicPr>
          <p:nvPr/>
        </p:nvPicPr>
        <p:blipFill>
          <a:blip r:embed="rId5"/>
          <a:stretch>
            <a:fillRect/>
          </a:stretch>
        </p:blipFill>
        <p:spPr>
          <a:xfrm>
            <a:off x="1607820" y="775450"/>
            <a:ext cx="5841330" cy="32098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pic>
        <p:nvPicPr>
          <p:cNvPr id="77" name="Google Shape;77;p16" title="slides.png"/>
          <p:cNvPicPr preferRelativeResize="0"/>
          <p:nvPr/>
        </p:nvPicPr>
        <p:blipFill>
          <a:blip r:embed="rId3">
            <a:alphaModFix/>
          </a:blip>
          <a:stretch>
            <a:fillRect/>
          </a:stretch>
        </p:blipFill>
        <p:spPr>
          <a:xfrm>
            <a:off x="-109416" y="-117231"/>
            <a:ext cx="9144000" cy="5143500"/>
          </a:xfrm>
          <a:prstGeom prst="rect">
            <a:avLst/>
          </a:prstGeom>
          <a:noFill/>
          <a:ln>
            <a:noFill/>
          </a:ln>
        </p:spPr>
      </p:pic>
      <p:sp>
        <p:nvSpPr>
          <p:cNvPr id="78" name="Google Shape;78;p16"/>
          <p:cNvSpPr txBox="1">
            <a:spLocks noGrp="1"/>
          </p:cNvSpPr>
          <p:nvPr>
            <p:ph type="ctrTitle"/>
          </p:nvPr>
        </p:nvSpPr>
        <p:spPr>
          <a:xfrm>
            <a:off x="812600" y="849250"/>
            <a:ext cx="4076700" cy="1034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sz="3000">
                <a:solidFill>
                  <a:schemeClr val="lt1"/>
                </a:solidFill>
                <a:latin typeface="Inter"/>
                <a:ea typeface="Inter"/>
                <a:cs typeface="Inter"/>
                <a:sym typeface="Inter"/>
              </a:rPr>
              <a:t>Problem Statement</a:t>
            </a:r>
            <a:endParaRPr sz="3000">
              <a:solidFill>
                <a:schemeClr val="lt1"/>
              </a:solidFill>
              <a:latin typeface="Inter"/>
              <a:ea typeface="Inter"/>
              <a:cs typeface="Inter"/>
              <a:sym typeface="Inter"/>
            </a:endParaRPr>
          </a:p>
        </p:txBody>
      </p:sp>
      <p:sp>
        <p:nvSpPr>
          <p:cNvPr id="79" name="Google Shape;79;p16"/>
          <p:cNvSpPr txBox="1">
            <a:spLocks noGrp="1"/>
          </p:cNvSpPr>
          <p:nvPr>
            <p:ph type="subTitle" idx="1"/>
          </p:nvPr>
        </p:nvSpPr>
        <p:spPr>
          <a:xfrm>
            <a:off x="812600" y="2026700"/>
            <a:ext cx="6454200" cy="2040300"/>
          </a:xfrm>
          <a:prstGeom prst="rect">
            <a:avLst/>
          </a:prstGeom>
        </p:spPr>
        <p:txBody>
          <a:bodyPr spcFirstLastPara="1" wrap="square" lIns="91425" tIns="91425" rIns="91425" bIns="91425" anchor="t" anchorCtr="0">
            <a:normAutofit fontScale="92500" lnSpcReduction="10000"/>
          </a:bodyPr>
          <a:lstStyle/>
          <a:p>
            <a:pPr marL="0" lvl="0" indent="0" algn="l"/>
            <a:r>
              <a:rPr lang="en-US" sz="2000" dirty="0">
                <a:solidFill>
                  <a:schemeClr val="lt1"/>
                </a:solidFill>
                <a:latin typeface="Inter"/>
                <a:ea typeface="Inter"/>
                <a:cs typeface="Inter"/>
                <a:sym typeface="Inter"/>
              </a:rPr>
              <a:t>Deepfakes, AI-generated misinformation, and edited media are eroding public trust in journalism, governance, and social </a:t>
            </a:r>
            <a:r>
              <a:rPr lang="en-US" sz="2000" dirty="0" err="1">
                <a:solidFill>
                  <a:schemeClr val="lt1"/>
                </a:solidFill>
                <a:latin typeface="Inter"/>
                <a:ea typeface="Inter"/>
                <a:cs typeface="Inter"/>
                <a:sym typeface="Inter"/>
              </a:rPr>
              <a:t>media.Existing</a:t>
            </a:r>
            <a:r>
              <a:rPr lang="en-US" sz="2000" dirty="0">
                <a:solidFill>
                  <a:schemeClr val="lt1"/>
                </a:solidFill>
                <a:latin typeface="Inter"/>
                <a:ea typeface="Inter"/>
                <a:cs typeface="Inter"/>
                <a:sym typeface="Inter"/>
              </a:rPr>
              <a:t> tools reactively detect fakes — often too late to prevent the </a:t>
            </a:r>
            <a:r>
              <a:rPr lang="en-US" sz="2000" dirty="0" err="1">
                <a:solidFill>
                  <a:schemeClr val="lt1"/>
                </a:solidFill>
                <a:latin typeface="Inter"/>
                <a:ea typeface="Inter"/>
                <a:cs typeface="Inter"/>
                <a:sym typeface="Inter"/>
              </a:rPr>
              <a:t>damage.Sankalp</a:t>
            </a:r>
            <a:r>
              <a:rPr lang="en-US" sz="2000" dirty="0">
                <a:solidFill>
                  <a:schemeClr val="lt1"/>
                </a:solidFill>
                <a:latin typeface="Inter"/>
                <a:ea typeface="Inter"/>
                <a:cs typeface="Inter"/>
                <a:sym typeface="Inter"/>
              </a:rPr>
              <a:t> solves this by building a proactive, verifiable trust layer for digital media, combining AI reasoning with blockchain-based proof.</a:t>
            </a:r>
            <a:endParaRPr sz="2000" dirty="0">
              <a:solidFill>
                <a:schemeClr val="lt1"/>
              </a:solidFill>
              <a:latin typeface="Inter"/>
              <a:ea typeface="Inter"/>
              <a:cs typeface="Inter"/>
              <a:sym typeface="Inter"/>
            </a:endParaRPr>
          </a:p>
        </p:txBody>
      </p:sp>
      <p:pic>
        <p:nvPicPr>
          <p:cNvPr id="80" name="Google Shape;80;p16"/>
          <p:cNvPicPr preferRelativeResize="0"/>
          <p:nvPr/>
        </p:nvPicPr>
        <p:blipFill>
          <a:blip r:embed="rId4">
            <a:alphaModFix/>
          </a:blip>
          <a:stretch>
            <a:fillRect/>
          </a:stretch>
        </p:blipFill>
        <p:spPr>
          <a:xfrm>
            <a:off x="365250" y="278225"/>
            <a:ext cx="2578377" cy="219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7" title="slides.png"/>
          <p:cNvPicPr preferRelativeResize="0"/>
          <p:nvPr/>
        </p:nvPicPr>
        <p:blipFill>
          <a:blip r:embed="rId3">
            <a:alphaModFix/>
          </a:blip>
          <a:stretch>
            <a:fillRect/>
          </a:stretch>
        </p:blipFill>
        <p:spPr>
          <a:xfrm>
            <a:off x="0" y="-54708"/>
            <a:ext cx="9144000" cy="5143500"/>
          </a:xfrm>
          <a:prstGeom prst="rect">
            <a:avLst/>
          </a:prstGeom>
          <a:noFill/>
          <a:ln>
            <a:noFill/>
          </a:ln>
        </p:spPr>
      </p:pic>
      <p:sp>
        <p:nvSpPr>
          <p:cNvPr id="86" name="Google Shape;86;p17"/>
          <p:cNvSpPr txBox="1">
            <a:spLocks noGrp="1"/>
          </p:cNvSpPr>
          <p:nvPr>
            <p:ph type="ctrTitle"/>
          </p:nvPr>
        </p:nvSpPr>
        <p:spPr>
          <a:xfrm>
            <a:off x="812600" y="849250"/>
            <a:ext cx="4076700" cy="1034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sz="3000" dirty="0">
                <a:solidFill>
                  <a:schemeClr val="lt1"/>
                </a:solidFill>
                <a:latin typeface="Inter"/>
                <a:ea typeface="Inter"/>
                <a:cs typeface="Inter"/>
                <a:sym typeface="Inter"/>
              </a:rPr>
              <a:t>Solution</a:t>
            </a:r>
            <a:endParaRPr sz="3000" dirty="0">
              <a:solidFill>
                <a:schemeClr val="lt1"/>
              </a:solidFill>
              <a:latin typeface="Inter"/>
              <a:ea typeface="Inter"/>
              <a:cs typeface="Inter"/>
              <a:sym typeface="Inter"/>
            </a:endParaRPr>
          </a:p>
        </p:txBody>
      </p:sp>
      <p:sp>
        <p:nvSpPr>
          <p:cNvPr id="87" name="Google Shape;87;p17"/>
          <p:cNvSpPr txBox="1">
            <a:spLocks noGrp="1"/>
          </p:cNvSpPr>
          <p:nvPr>
            <p:ph type="subTitle" idx="1"/>
          </p:nvPr>
        </p:nvSpPr>
        <p:spPr>
          <a:xfrm>
            <a:off x="812600" y="2026700"/>
            <a:ext cx="6454200" cy="2040300"/>
          </a:xfrm>
          <a:prstGeom prst="rect">
            <a:avLst/>
          </a:prstGeom>
        </p:spPr>
        <p:txBody>
          <a:bodyPr spcFirstLastPara="1" wrap="square" lIns="91425" tIns="91425" rIns="91425" bIns="91425" anchor="t" anchorCtr="0">
            <a:normAutofit fontScale="85000" lnSpcReduction="20000"/>
          </a:bodyPr>
          <a:lstStyle/>
          <a:p>
            <a:pPr marL="0" lvl="0" indent="0" algn="l"/>
            <a:r>
              <a:rPr lang="en-GB" sz="2000" dirty="0">
                <a:solidFill>
                  <a:schemeClr val="lt1"/>
                </a:solidFill>
                <a:latin typeface="Inter"/>
                <a:ea typeface="Inter"/>
                <a:cs typeface="Inter"/>
                <a:sym typeface="Inter"/>
              </a:rPr>
              <a:t>Sankalp – The Solution We Are </a:t>
            </a:r>
            <a:r>
              <a:rPr lang="en-GB" sz="2000" dirty="0" err="1">
                <a:solidFill>
                  <a:schemeClr val="lt1"/>
                </a:solidFill>
                <a:latin typeface="Inter"/>
                <a:ea typeface="Inter"/>
                <a:cs typeface="Inter"/>
                <a:sym typeface="Inter"/>
              </a:rPr>
              <a:t>DeliveringSankalp</a:t>
            </a:r>
            <a:r>
              <a:rPr lang="en-GB" sz="2000" dirty="0">
                <a:solidFill>
                  <a:schemeClr val="lt1"/>
                </a:solidFill>
                <a:latin typeface="Inter"/>
                <a:ea typeface="Inter"/>
                <a:cs typeface="Inter"/>
                <a:sym typeface="Inter"/>
              </a:rPr>
              <a:t> provides a complete decentralized, AI-powered trust layer for digital media by ensuring every photo, video, and statement is:</a:t>
            </a:r>
          </a:p>
          <a:p>
            <a:pPr marL="0" lvl="0" indent="0" algn="l"/>
            <a:endParaRPr lang="en-GB" sz="2000" dirty="0">
              <a:solidFill>
                <a:schemeClr val="lt1"/>
              </a:solidFill>
              <a:latin typeface="Inter"/>
              <a:ea typeface="Inter"/>
              <a:cs typeface="Inter"/>
              <a:sym typeface="Inter"/>
            </a:endParaRPr>
          </a:p>
          <a:p>
            <a:pPr marL="0" lvl="0" indent="0" algn="l"/>
            <a:r>
              <a:rPr lang="en-GB" sz="2000" dirty="0">
                <a:solidFill>
                  <a:schemeClr val="lt1"/>
                </a:solidFill>
                <a:latin typeface="Inter"/>
                <a:ea typeface="Inter"/>
                <a:cs typeface="Inter"/>
                <a:sym typeface="Inter"/>
              </a:rPr>
              <a:t>*Verified at the moment of creation</a:t>
            </a:r>
          </a:p>
          <a:p>
            <a:pPr marL="0" lvl="0" indent="0" algn="l"/>
            <a:r>
              <a:rPr lang="en-GB" sz="2000" dirty="0">
                <a:solidFill>
                  <a:schemeClr val="lt1"/>
                </a:solidFill>
                <a:latin typeface="Inter"/>
                <a:ea typeface="Inter"/>
                <a:cs typeface="Inter"/>
                <a:sym typeface="Inter"/>
              </a:rPr>
              <a:t>*Cryptographically sealed using blockchain</a:t>
            </a:r>
          </a:p>
          <a:p>
            <a:pPr marL="0" lvl="0" indent="0" algn="l"/>
            <a:r>
              <a:rPr lang="en-GB" sz="2000" dirty="0">
                <a:solidFill>
                  <a:schemeClr val="lt1"/>
                </a:solidFill>
                <a:latin typeface="Inter"/>
                <a:ea typeface="Inter"/>
                <a:cs typeface="Inter"/>
                <a:sym typeface="Inter"/>
              </a:rPr>
              <a:t>*Privately validated using Zero-Knowledge Proofs          *Continuously monitored for tampering across the internet</a:t>
            </a:r>
            <a:endParaRPr sz="2000" dirty="0">
              <a:solidFill>
                <a:schemeClr val="lt1"/>
              </a:solidFill>
              <a:latin typeface="Inter"/>
              <a:ea typeface="Inter"/>
              <a:cs typeface="Inter"/>
              <a:sym typeface="Inter"/>
            </a:endParaRPr>
          </a:p>
        </p:txBody>
      </p:sp>
      <p:pic>
        <p:nvPicPr>
          <p:cNvPr id="88" name="Google Shape;88;p17"/>
          <p:cNvPicPr preferRelativeResize="0"/>
          <p:nvPr/>
        </p:nvPicPr>
        <p:blipFill>
          <a:blip r:embed="rId4">
            <a:alphaModFix/>
          </a:blip>
          <a:stretch>
            <a:fillRect/>
          </a:stretch>
        </p:blipFill>
        <p:spPr>
          <a:xfrm>
            <a:off x="365250" y="278225"/>
            <a:ext cx="2578377" cy="219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8" title="slides.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94" name="Google Shape;94;p18"/>
          <p:cNvSpPr txBox="1">
            <a:spLocks noGrp="1"/>
          </p:cNvSpPr>
          <p:nvPr>
            <p:ph type="subTitle" idx="1"/>
          </p:nvPr>
        </p:nvSpPr>
        <p:spPr>
          <a:xfrm>
            <a:off x="1875750" y="4560375"/>
            <a:ext cx="5392500" cy="374100"/>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0"/>
              </a:spcAft>
              <a:buNone/>
            </a:pPr>
            <a:r>
              <a:rPr lang="en-GB" sz="1400" dirty="0">
                <a:solidFill>
                  <a:schemeClr val="lt1"/>
                </a:solidFill>
                <a:latin typeface="Inter"/>
                <a:ea typeface="Inter"/>
                <a:cs typeface="Inter"/>
                <a:sym typeface="Inter"/>
              </a:rPr>
              <a:t>Screenshot 1</a:t>
            </a:r>
            <a:endParaRPr sz="1400" dirty="0">
              <a:solidFill>
                <a:schemeClr val="lt1"/>
              </a:solidFill>
              <a:latin typeface="Inter"/>
              <a:ea typeface="Inter"/>
              <a:cs typeface="Inter"/>
              <a:sym typeface="Inter"/>
            </a:endParaRPr>
          </a:p>
        </p:txBody>
      </p:sp>
      <p:pic>
        <p:nvPicPr>
          <p:cNvPr id="95" name="Google Shape;95;p18"/>
          <p:cNvPicPr preferRelativeResize="0"/>
          <p:nvPr/>
        </p:nvPicPr>
        <p:blipFill>
          <a:blip r:embed="rId4">
            <a:alphaModFix/>
          </a:blip>
          <a:stretch>
            <a:fillRect/>
          </a:stretch>
        </p:blipFill>
        <p:spPr>
          <a:xfrm>
            <a:off x="341804" y="512687"/>
            <a:ext cx="2578377" cy="219000"/>
          </a:xfrm>
          <a:prstGeom prst="rect">
            <a:avLst/>
          </a:prstGeom>
          <a:noFill/>
          <a:ln>
            <a:noFill/>
          </a:ln>
        </p:spPr>
      </p:pic>
      <p:pic>
        <p:nvPicPr>
          <p:cNvPr id="3" name="Picture 2" descr="A screenshot of a phone&#10;&#10;AI-generated content may be incorrect.">
            <a:extLst>
              <a:ext uri="{FF2B5EF4-FFF2-40B4-BE49-F238E27FC236}">
                <a16:creationId xmlns:a16="http://schemas.microsoft.com/office/drawing/2014/main" id="{E7C87F0B-8CE9-E7A2-E3ED-00DEF98AC703}"/>
              </a:ext>
            </a:extLst>
          </p:cNvPr>
          <p:cNvPicPr>
            <a:picLocks noChangeAspect="1"/>
          </p:cNvPicPr>
          <p:nvPr/>
        </p:nvPicPr>
        <p:blipFill>
          <a:blip r:embed="rId5"/>
          <a:stretch>
            <a:fillRect/>
          </a:stretch>
        </p:blipFill>
        <p:spPr>
          <a:xfrm>
            <a:off x="1763477" y="864402"/>
            <a:ext cx="2306885" cy="4146383"/>
          </a:xfrm>
          <a:prstGeom prst="rect">
            <a:avLst/>
          </a:prstGeom>
        </p:spPr>
      </p:pic>
      <p:pic>
        <p:nvPicPr>
          <p:cNvPr id="9" name="Picture 8" descr="A screenshot of a phone&#10;&#10;AI-generated content may be incorrect.">
            <a:extLst>
              <a:ext uri="{FF2B5EF4-FFF2-40B4-BE49-F238E27FC236}">
                <a16:creationId xmlns:a16="http://schemas.microsoft.com/office/drawing/2014/main" id="{FFFD3E13-ED6A-759D-7A8D-7E7672737B73}"/>
              </a:ext>
            </a:extLst>
          </p:cNvPr>
          <p:cNvPicPr>
            <a:picLocks noChangeAspect="1"/>
          </p:cNvPicPr>
          <p:nvPr/>
        </p:nvPicPr>
        <p:blipFill>
          <a:blip r:embed="rId6"/>
          <a:stretch>
            <a:fillRect/>
          </a:stretch>
        </p:blipFill>
        <p:spPr>
          <a:xfrm>
            <a:off x="5194427" y="864401"/>
            <a:ext cx="2348656" cy="414638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9" title="slides.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1" name="Google Shape;101;p19"/>
          <p:cNvSpPr txBox="1">
            <a:spLocks noGrp="1"/>
          </p:cNvSpPr>
          <p:nvPr>
            <p:ph type="subTitle" idx="1"/>
          </p:nvPr>
        </p:nvSpPr>
        <p:spPr>
          <a:xfrm>
            <a:off x="1875750" y="4560375"/>
            <a:ext cx="5392500" cy="374100"/>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0"/>
              </a:spcAft>
              <a:buNone/>
            </a:pPr>
            <a:r>
              <a:rPr lang="en-GB" sz="1400">
                <a:solidFill>
                  <a:schemeClr val="lt1"/>
                </a:solidFill>
                <a:latin typeface="Inter"/>
                <a:ea typeface="Inter"/>
                <a:cs typeface="Inter"/>
                <a:sym typeface="Inter"/>
              </a:rPr>
              <a:t>Screenshot 2</a:t>
            </a:r>
            <a:endParaRPr sz="1400">
              <a:solidFill>
                <a:schemeClr val="lt1"/>
              </a:solidFill>
              <a:latin typeface="Inter"/>
              <a:ea typeface="Inter"/>
              <a:cs typeface="Inter"/>
              <a:sym typeface="Inter"/>
            </a:endParaRPr>
          </a:p>
        </p:txBody>
      </p:sp>
      <p:pic>
        <p:nvPicPr>
          <p:cNvPr id="102" name="Google Shape;102;p19"/>
          <p:cNvPicPr preferRelativeResize="0"/>
          <p:nvPr/>
        </p:nvPicPr>
        <p:blipFill>
          <a:blip r:embed="rId4">
            <a:alphaModFix/>
          </a:blip>
          <a:stretch>
            <a:fillRect/>
          </a:stretch>
        </p:blipFill>
        <p:spPr>
          <a:xfrm>
            <a:off x="365250" y="278225"/>
            <a:ext cx="2578377" cy="219000"/>
          </a:xfrm>
          <a:prstGeom prst="rect">
            <a:avLst/>
          </a:prstGeom>
          <a:noFill/>
          <a:ln>
            <a:noFill/>
          </a:ln>
        </p:spPr>
      </p:pic>
      <p:pic>
        <p:nvPicPr>
          <p:cNvPr id="5" name="Picture 4" descr="A screenshot of a phone">
            <a:extLst>
              <a:ext uri="{FF2B5EF4-FFF2-40B4-BE49-F238E27FC236}">
                <a16:creationId xmlns:a16="http://schemas.microsoft.com/office/drawing/2014/main" id="{AD1BA250-C936-AE70-2BFF-397804158A48}"/>
              </a:ext>
            </a:extLst>
          </p:cNvPr>
          <p:cNvPicPr>
            <a:picLocks noChangeAspect="1"/>
          </p:cNvPicPr>
          <p:nvPr/>
        </p:nvPicPr>
        <p:blipFill>
          <a:blip r:embed="rId5"/>
          <a:stretch>
            <a:fillRect/>
          </a:stretch>
        </p:blipFill>
        <p:spPr>
          <a:xfrm>
            <a:off x="2930695" y="566387"/>
            <a:ext cx="2578378" cy="44057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20" title="slides.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8" name="Google Shape;108;p20"/>
          <p:cNvSpPr txBox="1">
            <a:spLocks noGrp="1"/>
          </p:cNvSpPr>
          <p:nvPr>
            <p:ph type="subTitle" idx="1"/>
          </p:nvPr>
        </p:nvSpPr>
        <p:spPr>
          <a:xfrm>
            <a:off x="1875750" y="4560375"/>
            <a:ext cx="5392500" cy="374100"/>
          </a:xfrm>
          <a:prstGeom prst="rect">
            <a:avLst/>
          </a:prstGeom>
        </p:spPr>
        <p:txBody>
          <a:bodyPr spcFirstLastPara="1" wrap="square" lIns="91425" tIns="91425" rIns="91425" bIns="91425" anchor="t" anchorCtr="0">
            <a:normAutofit fontScale="92500" lnSpcReduction="10000"/>
          </a:bodyPr>
          <a:lstStyle/>
          <a:p>
            <a:pPr marL="0" lvl="0" indent="0" algn="ctr" rtl="0">
              <a:spcBef>
                <a:spcPts val="0"/>
              </a:spcBef>
              <a:spcAft>
                <a:spcPts val="0"/>
              </a:spcAft>
              <a:buNone/>
            </a:pPr>
            <a:r>
              <a:rPr lang="en-GB" sz="1400">
                <a:solidFill>
                  <a:schemeClr val="lt1"/>
                </a:solidFill>
                <a:latin typeface="Inter"/>
                <a:ea typeface="Inter"/>
                <a:cs typeface="Inter"/>
                <a:sym typeface="Inter"/>
              </a:rPr>
              <a:t>Screenshot 3</a:t>
            </a:r>
            <a:endParaRPr sz="1400">
              <a:solidFill>
                <a:schemeClr val="lt1"/>
              </a:solidFill>
              <a:latin typeface="Inter"/>
              <a:ea typeface="Inter"/>
              <a:cs typeface="Inter"/>
              <a:sym typeface="Inter"/>
            </a:endParaRPr>
          </a:p>
        </p:txBody>
      </p:sp>
      <p:pic>
        <p:nvPicPr>
          <p:cNvPr id="109" name="Google Shape;109;p20"/>
          <p:cNvPicPr preferRelativeResize="0"/>
          <p:nvPr/>
        </p:nvPicPr>
        <p:blipFill>
          <a:blip r:embed="rId4">
            <a:alphaModFix/>
          </a:blip>
          <a:stretch>
            <a:fillRect/>
          </a:stretch>
        </p:blipFill>
        <p:spPr>
          <a:xfrm>
            <a:off x="365250" y="278225"/>
            <a:ext cx="2578377" cy="219000"/>
          </a:xfrm>
          <a:prstGeom prst="rect">
            <a:avLst/>
          </a:prstGeom>
          <a:noFill/>
          <a:ln>
            <a:noFill/>
          </a:ln>
        </p:spPr>
      </p:pic>
      <p:pic>
        <p:nvPicPr>
          <p:cNvPr id="7" name="Picture 6" descr="A screenshot of a phone&#10;&#10;AI-generated content may be incorrect.">
            <a:extLst>
              <a:ext uri="{FF2B5EF4-FFF2-40B4-BE49-F238E27FC236}">
                <a16:creationId xmlns:a16="http://schemas.microsoft.com/office/drawing/2014/main" id="{06071360-2D23-F53C-538B-6158AF6C20AD}"/>
              </a:ext>
            </a:extLst>
          </p:cNvPr>
          <p:cNvPicPr>
            <a:picLocks noChangeAspect="1"/>
          </p:cNvPicPr>
          <p:nvPr/>
        </p:nvPicPr>
        <p:blipFill>
          <a:blip r:embed="rId5"/>
          <a:stretch>
            <a:fillRect/>
          </a:stretch>
        </p:blipFill>
        <p:spPr>
          <a:xfrm>
            <a:off x="3088640" y="601043"/>
            <a:ext cx="2529840" cy="43334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14" name="Google Shape;114;p21" title="slides.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15" name="Google Shape;115;p21"/>
          <p:cNvSpPr txBox="1">
            <a:spLocks noGrp="1"/>
          </p:cNvSpPr>
          <p:nvPr>
            <p:ph type="ctrTitle"/>
          </p:nvPr>
        </p:nvSpPr>
        <p:spPr>
          <a:xfrm>
            <a:off x="812600" y="849250"/>
            <a:ext cx="4076700" cy="1034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sz="3000" dirty="0">
                <a:solidFill>
                  <a:schemeClr val="lt1"/>
                </a:solidFill>
                <a:latin typeface="Inter"/>
                <a:ea typeface="Inter"/>
                <a:cs typeface="Inter"/>
                <a:sym typeface="Inter"/>
              </a:rPr>
              <a:t>Business Model</a:t>
            </a:r>
            <a:endParaRPr sz="3000" dirty="0">
              <a:solidFill>
                <a:schemeClr val="lt1"/>
              </a:solidFill>
              <a:latin typeface="Inter"/>
              <a:ea typeface="Inter"/>
              <a:cs typeface="Inter"/>
              <a:sym typeface="Inter"/>
            </a:endParaRPr>
          </a:p>
        </p:txBody>
      </p:sp>
      <p:sp>
        <p:nvSpPr>
          <p:cNvPr id="116" name="Google Shape;116;p21"/>
          <p:cNvSpPr txBox="1">
            <a:spLocks noGrp="1"/>
          </p:cNvSpPr>
          <p:nvPr>
            <p:ph type="subTitle" idx="1"/>
          </p:nvPr>
        </p:nvSpPr>
        <p:spPr>
          <a:xfrm>
            <a:off x="812600" y="2026700"/>
            <a:ext cx="6454200" cy="2040300"/>
          </a:xfrm>
          <a:prstGeom prst="rect">
            <a:avLst/>
          </a:prstGeom>
        </p:spPr>
        <p:txBody>
          <a:bodyPr spcFirstLastPara="1" wrap="square" lIns="91425" tIns="91425" rIns="91425" bIns="91425" anchor="t" anchorCtr="0">
            <a:normAutofit/>
          </a:bodyPr>
          <a:lstStyle/>
          <a:p>
            <a:pPr marL="342900" lvl="0" algn="l" rtl="0">
              <a:spcBef>
                <a:spcPts val="0"/>
              </a:spcBef>
              <a:spcAft>
                <a:spcPts val="0"/>
              </a:spcAft>
              <a:buFont typeface="Wingdings" panose="05000000000000000000" pitchFamily="2" charset="2"/>
              <a:buChar char="ü"/>
            </a:pPr>
            <a:r>
              <a:rPr lang="en-GB" sz="2000" dirty="0">
                <a:solidFill>
                  <a:schemeClr val="lt1"/>
                </a:solidFill>
                <a:latin typeface="Inter"/>
                <a:ea typeface="Inter"/>
                <a:cs typeface="Inter"/>
                <a:sym typeface="Inter"/>
              </a:rPr>
              <a:t>SaaS for News Agencies </a:t>
            </a:r>
          </a:p>
          <a:p>
            <a:pPr marL="342900" lvl="0" algn="l" rtl="0">
              <a:spcBef>
                <a:spcPts val="0"/>
              </a:spcBef>
              <a:spcAft>
                <a:spcPts val="0"/>
              </a:spcAft>
              <a:buFont typeface="Wingdings" panose="05000000000000000000" pitchFamily="2" charset="2"/>
              <a:buChar char="ü"/>
            </a:pPr>
            <a:r>
              <a:rPr lang="en-GB" sz="2000" dirty="0">
                <a:solidFill>
                  <a:schemeClr val="lt1"/>
                </a:solidFill>
                <a:latin typeface="Inter"/>
                <a:ea typeface="Inter"/>
                <a:cs typeface="Inter"/>
                <a:sym typeface="Inter"/>
              </a:rPr>
              <a:t>API Subscription for Social Media Apps</a:t>
            </a:r>
          </a:p>
          <a:p>
            <a:pPr marL="342900" lvl="0" algn="l" rtl="0">
              <a:spcBef>
                <a:spcPts val="0"/>
              </a:spcBef>
              <a:spcAft>
                <a:spcPts val="0"/>
              </a:spcAft>
              <a:buFont typeface="Wingdings" panose="05000000000000000000" pitchFamily="2" charset="2"/>
              <a:buChar char="ü"/>
            </a:pPr>
            <a:r>
              <a:rPr lang="en-GB" sz="2000" dirty="0">
                <a:solidFill>
                  <a:schemeClr val="lt1"/>
                </a:solidFill>
                <a:latin typeface="Inter"/>
                <a:ea typeface="Inter"/>
                <a:cs typeface="Inter"/>
                <a:sym typeface="Inter"/>
              </a:rPr>
              <a:t>Government/Police Contracts</a:t>
            </a:r>
          </a:p>
          <a:p>
            <a:pPr marL="342900" lvl="0" algn="l" rtl="0">
              <a:spcBef>
                <a:spcPts val="0"/>
              </a:spcBef>
              <a:spcAft>
                <a:spcPts val="0"/>
              </a:spcAft>
              <a:buFont typeface="Wingdings" panose="05000000000000000000" pitchFamily="2" charset="2"/>
              <a:buChar char="ü"/>
            </a:pPr>
            <a:r>
              <a:rPr lang="en-GB" sz="2000" dirty="0">
                <a:solidFill>
                  <a:schemeClr val="lt1"/>
                </a:solidFill>
                <a:latin typeface="Inter"/>
                <a:ea typeface="Inter"/>
                <a:cs typeface="Inter"/>
                <a:sym typeface="Inter"/>
              </a:rPr>
              <a:t>Chrome Extension Freemium Model</a:t>
            </a:r>
          </a:p>
          <a:p>
            <a:pPr marL="342900" lvl="0" algn="l" rtl="0">
              <a:spcBef>
                <a:spcPts val="0"/>
              </a:spcBef>
              <a:spcAft>
                <a:spcPts val="0"/>
              </a:spcAft>
              <a:buFont typeface="Wingdings" panose="05000000000000000000" pitchFamily="2" charset="2"/>
              <a:buChar char="ü"/>
            </a:pPr>
            <a:r>
              <a:rPr lang="en-GB" sz="2000" dirty="0">
                <a:solidFill>
                  <a:schemeClr val="lt1"/>
                </a:solidFill>
                <a:latin typeface="Inter"/>
                <a:ea typeface="Inter"/>
                <a:cs typeface="Inter"/>
                <a:sym typeface="Inter"/>
              </a:rPr>
              <a:t>Corporate Security &amp; Compliance Packages</a:t>
            </a:r>
          </a:p>
          <a:p>
            <a:pPr marL="342900" lvl="0" algn="l" rtl="0">
              <a:spcBef>
                <a:spcPts val="0"/>
              </a:spcBef>
              <a:spcAft>
                <a:spcPts val="0"/>
              </a:spcAft>
              <a:buFont typeface="Wingdings" panose="05000000000000000000" pitchFamily="2" charset="2"/>
              <a:buChar char="ü"/>
            </a:pPr>
            <a:r>
              <a:rPr lang="en-GB" sz="2000" dirty="0">
                <a:solidFill>
                  <a:schemeClr val="lt1"/>
                </a:solidFill>
                <a:latin typeface="Inter"/>
                <a:ea typeface="Inter"/>
                <a:cs typeface="Inter"/>
                <a:sym typeface="Inter"/>
              </a:rPr>
              <a:t>Sentinel Monitoring as a Paid Service</a:t>
            </a:r>
          </a:p>
          <a:p>
            <a:pPr marL="342900" lvl="0" algn="l" rtl="0">
              <a:spcBef>
                <a:spcPts val="0"/>
              </a:spcBef>
              <a:spcAft>
                <a:spcPts val="0"/>
              </a:spcAft>
              <a:buFont typeface="Wingdings" panose="05000000000000000000" pitchFamily="2" charset="2"/>
              <a:buChar char="ü"/>
            </a:pPr>
            <a:endParaRPr sz="2000" dirty="0">
              <a:solidFill>
                <a:schemeClr val="lt1"/>
              </a:solidFill>
              <a:latin typeface="Inter"/>
              <a:ea typeface="Inter"/>
              <a:cs typeface="Inter"/>
              <a:sym typeface="Inter"/>
            </a:endParaRPr>
          </a:p>
        </p:txBody>
      </p:sp>
      <p:pic>
        <p:nvPicPr>
          <p:cNvPr id="117" name="Google Shape;117;p21"/>
          <p:cNvPicPr preferRelativeResize="0"/>
          <p:nvPr/>
        </p:nvPicPr>
        <p:blipFill>
          <a:blip r:embed="rId4">
            <a:alphaModFix/>
          </a:blip>
          <a:stretch>
            <a:fillRect/>
          </a:stretch>
        </p:blipFill>
        <p:spPr>
          <a:xfrm>
            <a:off x="365250" y="278225"/>
            <a:ext cx="2578377" cy="219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22" title="slides.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23" name="Google Shape;123;p22"/>
          <p:cNvSpPr txBox="1">
            <a:spLocks noGrp="1"/>
          </p:cNvSpPr>
          <p:nvPr>
            <p:ph type="ctrTitle"/>
          </p:nvPr>
        </p:nvSpPr>
        <p:spPr>
          <a:xfrm>
            <a:off x="812600" y="849250"/>
            <a:ext cx="4076700" cy="1034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sz="3000" dirty="0">
                <a:solidFill>
                  <a:schemeClr val="lt1"/>
                </a:solidFill>
                <a:latin typeface="Inter"/>
                <a:ea typeface="Inter"/>
                <a:cs typeface="Inter"/>
                <a:sym typeface="Inter"/>
              </a:rPr>
              <a:t>Anything else?</a:t>
            </a:r>
            <a:endParaRPr sz="3000" dirty="0">
              <a:solidFill>
                <a:schemeClr val="lt1"/>
              </a:solidFill>
              <a:latin typeface="Inter"/>
              <a:ea typeface="Inter"/>
              <a:cs typeface="Inter"/>
              <a:sym typeface="Inter"/>
            </a:endParaRPr>
          </a:p>
        </p:txBody>
      </p:sp>
      <p:sp>
        <p:nvSpPr>
          <p:cNvPr id="124" name="Google Shape;124;p22"/>
          <p:cNvSpPr txBox="1">
            <a:spLocks noGrp="1"/>
          </p:cNvSpPr>
          <p:nvPr>
            <p:ph type="subTitle" idx="1"/>
          </p:nvPr>
        </p:nvSpPr>
        <p:spPr>
          <a:xfrm>
            <a:off x="812600" y="2026700"/>
            <a:ext cx="6454200" cy="2040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000" i="1" dirty="0">
                <a:solidFill>
                  <a:schemeClr val="lt1"/>
                </a:solidFill>
                <a:latin typeface="Inter"/>
                <a:ea typeface="Inter"/>
                <a:cs typeface="Inter"/>
                <a:sym typeface="Inter"/>
              </a:rPr>
              <a:t>This Prototype of Agentic AI model is made for images only cause of time constraints our future goal is to create this for video ,recordings etc. which contains sensitive information which will lead to privacy and truth of information this our </a:t>
            </a:r>
            <a:r>
              <a:rPr lang="en-GB" sz="2000" b="1" dirty="0">
                <a:solidFill>
                  <a:schemeClr val="lt1"/>
                </a:solidFill>
                <a:latin typeface="Inter"/>
                <a:ea typeface="Inter"/>
                <a:cs typeface="Inter"/>
                <a:sym typeface="Inter"/>
              </a:rPr>
              <a:t>SANKALP</a:t>
            </a:r>
            <a:endParaRPr sz="2000" b="1" dirty="0">
              <a:solidFill>
                <a:schemeClr val="lt1"/>
              </a:solidFill>
              <a:latin typeface="Inter"/>
              <a:ea typeface="Inter"/>
              <a:cs typeface="Inter"/>
              <a:sym typeface="Inter"/>
            </a:endParaRPr>
          </a:p>
        </p:txBody>
      </p:sp>
      <p:pic>
        <p:nvPicPr>
          <p:cNvPr id="125" name="Google Shape;125;p22"/>
          <p:cNvPicPr preferRelativeResize="0"/>
          <p:nvPr/>
        </p:nvPicPr>
        <p:blipFill>
          <a:blip r:embed="rId4">
            <a:alphaModFix/>
          </a:blip>
          <a:stretch>
            <a:fillRect/>
          </a:stretch>
        </p:blipFill>
        <p:spPr>
          <a:xfrm>
            <a:off x="365250" y="278225"/>
            <a:ext cx="2578377" cy="219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3" title="slides.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131" name="Google Shape;131;p23"/>
          <p:cNvSpPr txBox="1">
            <a:spLocks noGrp="1"/>
          </p:cNvSpPr>
          <p:nvPr>
            <p:ph type="ctrTitle"/>
          </p:nvPr>
        </p:nvSpPr>
        <p:spPr>
          <a:xfrm>
            <a:off x="311700" y="744575"/>
            <a:ext cx="8520600" cy="18273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dirty="0">
                <a:solidFill>
                  <a:schemeClr val="lt1"/>
                </a:solidFill>
                <a:latin typeface="Inter"/>
                <a:ea typeface="Inter"/>
                <a:cs typeface="Inter"/>
                <a:sym typeface="Inter"/>
              </a:rPr>
              <a:t>Thank you</a:t>
            </a:r>
            <a:endParaRPr dirty="0">
              <a:solidFill>
                <a:schemeClr val="lt1"/>
              </a:solidFill>
              <a:latin typeface="Inter"/>
              <a:ea typeface="Inter"/>
              <a:cs typeface="Inter"/>
              <a:sym typeface="Inter"/>
            </a:endParaRPr>
          </a:p>
        </p:txBody>
      </p:sp>
      <p:sp>
        <p:nvSpPr>
          <p:cNvPr id="132" name="Google Shape;132;p23"/>
          <p:cNvSpPr txBox="1">
            <a:spLocks noGrp="1"/>
          </p:cNvSpPr>
          <p:nvPr>
            <p:ph type="subTitle" idx="1"/>
          </p:nvPr>
        </p:nvSpPr>
        <p:spPr>
          <a:xfrm>
            <a:off x="311700" y="2677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IN" sz="2000" dirty="0">
                <a:solidFill>
                  <a:schemeClr val="lt1"/>
                </a:solidFill>
                <a:latin typeface="Inter"/>
                <a:ea typeface="Inter"/>
                <a:cs typeface="Inter"/>
                <a:sym typeface="Inter"/>
              </a:rPr>
              <a:t>For Giving us opportunity to build Agentic AI model at this much big event.</a:t>
            </a:r>
            <a:endParaRPr sz="2000" dirty="0">
              <a:solidFill>
                <a:schemeClr val="lt1"/>
              </a:solidFill>
              <a:latin typeface="Inter"/>
              <a:ea typeface="Inter"/>
              <a:cs typeface="Inter"/>
              <a:sym typeface="Inter"/>
            </a:endParaRPr>
          </a:p>
        </p:txBody>
      </p:sp>
      <p:pic>
        <p:nvPicPr>
          <p:cNvPr id="133" name="Google Shape;133;p23"/>
          <p:cNvPicPr preferRelativeResize="0"/>
          <p:nvPr/>
        </p:nvPicPr>
        <p:blipFill>
          <a:blip r:embed="rId4">
            <a:alphaModFix/>
          </a:blip>
          <a:stretch>
            <a:fillRect/>
          </a:stretch>
        </p:blipFill>
        <p:spPr>
          <a:xfrm>
            <a:off x="365250" y="278225"/>
            <a:ext cx="2578377" cy="2190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283</Words>
  <Application>Microsoft Office PowerPoint</Application>
  <PresentationFormat>On-screen Show (16:9)</PresentationFormat>
  <Paragraphs>34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Wingdings</vt:lpstr>
      <vt:lpstr>Arial</vt:lpstr>
      <vt:lpstr>Inter Medium</vt:lpstr>
      <vt:lpstr>Inter</vt:lpstr>
      <vt:lpstr>Simple Light</vt:lpstr>
      <vt:lpstr>Pitch Deck Template</vt:lpstr>
      <vt:lpstr>SANKALP: Digital Truth At Source</vt:lpstr>
      <vt:lpstr>PowerPoint Presentation</vt:lpstr>
      <vt:lpstr>Problem Statement</vt:lpstr>
      <vt:lpstr>Solution</vt:lpstr>
      <vt:lpstr>PowerPoint Presentation</vt:lpstr>
      <vt:lpstr>PowerPoint Presentation</vt:lpstr>
      <vt:lpstr>PowerPoint Presentation</vt:lpstr>
      <vt:lpstr>Business Model</vt:lpstr>
      <vt:lpstr>Anything else?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abhishekingle9090@gmail.com</cp:lastModifiedBy>
  <cp:revision>11</cp:revision>
  <dcterms:modified xsi:type="dcterms:W3CDTF">2025-11-29T06:05:43Z</dcterms:modified>
</cp:coreProperties>
</file>